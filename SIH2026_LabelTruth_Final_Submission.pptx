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Garamond"/>
      <p:regular r:id="rId13"/>
      <p:bold r:id="rId14"/>
      <p:italic r:id="rId15"/>
      <p:boldItalic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3" Type="http://schemas.openxmlformats.org/officeDocument/2006/relationships/font" Target="fonts/Garamond-regular.fntdata"/><Relationship Id="rId14" Type="http://schemas.openxmlformats.org/officeDocument/2006/relationships/font" Target="fonts/Garamond-bold.fntdata"/><Relationship Id="rId15" Type="http://schemas.openxmlformats.org/officeDocument/2006/relationships/font" Target="fonts/Garamond-italic.fntdata"/><Relationship Id="rId16" Type="http://schemas.openxmlformats.org/officeDocument/2006/relationships/font" Target="fonts/Garamond-boldItalic.fntdata"/><Relationship Id="rId17" Type="http://schemas.openxmlformats.org/officeDocument/2006/relationships/font" Target="fonts/Oswald-regular.fntdata"/><Relationship Id="rId18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7266073" y="3429002"/>
            <a:ext cx="2369900" cy="2534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" type="subTitle"/>
          </p:nvPr>
        </p:nvSpPr>
        <p:spPr>
          <a:xfrm rot="121">
            <a:off x="1245700" y="648601"/>
            <a:ext cx="8534100" cy="12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 txBox="1"/>
          <p:nvPr>
            <p:ph type="ctrTitle"/>
          </p:nvPr>
        </p:nvSpPr>
        <p:spPr>
          <a:xfrm>
            <a:off x="331275" y="-526751"/>
            <a:ext cx="10363200" cy="15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200075" y="1535727"/>
            <a:ext cx="100953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0284C7"/>
                </a:solidFill>
              </a:defRPr>
            </a:pPr>
            <a:r>
              <a:t>Problem Statement ID: SIH26034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400"/>
              </a:spcBef>
              <a:defRPr b="1" sz="1150">
                <a:solidFill>
                  <a:srgbClr val="0F172A"/>
                </a:solidFill>
              </a:defRPr>
            </a:pPr>
            <a:r>
              <a:t>Problem Statement Title: Software System to check compliance of Packaged Commodities under Legal Metrology(Packaged Commodities) Rules, 2011 by scanning products, images and labels.</a:t>
            </a:r>
          </a:p>
          <a:p>
            <a:pPr>
              <a:spcBef>
                <a:spcPts val="400"/>
              </a:spcBef>
              <a:defRPr b="1" sz="1250">
                <a:solidFill>
                  <a:srgbClr val="059669"/>
                </a:solidFill>
              </a:defRPr>
            </a:pPr>
            <a:r>
              <a:t>Project / Solution Title: LabelTruth — AI-Powered Legal Metrology &amp; Packaging Compliance Detector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Theme: Agriculture, FoodTech &amp; Rural Development | Category: Software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Ministry / Dept: Department of Consumer Affairs (DoCA), Ministry of Consumer Affairs, Food &amp; Public Distribution</a:t>
            </a:r>
          </a:p>
          <a:p>
            <a:pPr>
              <a:spcBef>
                <a:spcPts val="400"/>
              </a:spcBef>
              <a:defRPr b="1" sz="1100">
                <a:solidFill>
                  <a:srgbClr val="0F172A"/>
                </a:solidFill>
              </a:defRPr>
            </a:pPr>
            <a:r>
              <a:t>Team ID: [Your Team ID]  |  Team Name: [Your Team Name Registered on Portal]</a:t>
            </a:r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-28350" y="6354087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>
            <p:ph idx="12" type="sldNum"/>
          </p:nvPr>
        </p:nvSpPr>
        <p:spPr>
          <a:xfrm>
            <a:off x="8709250" y="6355678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2" name="Google Shape;102;p14"/>
          <p:cNvSpPr txBox="1"/>
          <p:nvPr>
            <p:ph idx="11" type="ftr"/>
          </p:nvPr>
        </p:nvSpPr>
        <p:spPr>
          <a:xfrm>
            <a:off x="4619850" y="6355678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1736" y="825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TextBox 104"/>
          <p:cNvSpPr txBox="1"/>
          <p:nvPr/>
        </p:nvSpPr>
        <p:spPr>
          <a:xfrm>
            <a:off x="603504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PROPOSED SOLUTION (Idea / Prototype)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03504" y="1005840"/>
            <a:ext cx="10972800" cy="4709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300">
                <a:solidFill>
                  <a:srgbClr val="0284C7"/>
                </a:solidFill>
              </a:defRPr>
            </a:pPr>
            <a:r>
              <a:t>1. Detailed Explanation of Proposed Solution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LabelTruth is an AI-powered compliance platform automating packaged commodity audits under Legal Metrology (Packaged Commodities) Rules, 2011 (LMPC Rules) and Legal Metrology Act, 2009 for Enforcement Officers (DoCA) and Consumers.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Dual-Pack Multimodal Vision AI (Gemini 2.5 Flash): Simultaneously extracts front/back text, Principal Display Panel (PDP) dimensions, barcodes, and mandatory declarations with zero manual entry.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Deterministic Rule Engine: Validates Rule 6(1)(a)-(h) [Mfg Details, Generic Commodity Name, Net Qty, Unit Sale Price (USP), MRP, Packing Date, Consumer Care] and Rules 7-9 [PDP Font Sizing].</a:t>
            </a:r>
          </a:p>
          <a:p>
            <a:pPr>
              <a:spcBef>
                <a:spcPts val="600"/>
              </a:spcBef>
              <a:defRPr b="1" sz="1300">
                <a:solidFill>
                  <a:srgbClr val="0284C7"/>
                </a:solidFill>
              </a:defRPr>
            </a:pPr>
            <a:r>
              <a:t>2. How it Addresses the Problem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Eliminates Manual Bottlenecks: Replaces 15-minute physical audits with &lt; 3-second automated verification across physical retail &amp; e-commerce.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Zero-Tolerance Defect Detection: Detects missing USP, non-compliant font heights, and deceptive branding (e.g. Maida masked as Atta).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Evidence Dossiers: Automatically generates court-admissible digital dockets with cropped photo proofs, timestamps, and violation codes.</a:t>
            </a:r>
          </a:p>
          <a:p>
            <a:pPr>
              <a:spcBef>
                <a:spcPts val="600"/>
              </a:spcBef>
              <a:defRPr b="1" sz="1300">
                <a:solidFill>
                  <a:srgbClr val="0284C7"/>
                </a:solidFill>
              </a:defRPr>
            </a:pPr>
            <a:r>
              <a:t>3. Innovation and Uniqueness of the Solution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Image-First Vision AI: Audits any unlisted or newly launched physical product directly without needing pre-existing barcode databases (unlike TruthIn).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Interactive Regulatory AI Chatbot (/chat/product): Real-time conversational legal assistant for officers &amp; citizens to query statutory thresholds.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Automated Legal Notice Generator: 1-click generation of digitally stamped PDF violation notices under Sec 18 &amp; 36 of Legal Metrology Act, 2009.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TECHNICAL APPROACH</a:t>
            </a:r>
          </a:p>
        </p:txBody>
      </p:sp>
      <p:sp>
        <p:nvSpPr>
          <p:cNvPr id="112" name="Google Shape;112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3" name="Google Shape;113;p1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TextBox 115"/>
          <p:cNvSpPr txBox="1"/>
          <p:nvPr/>
        </p:nvSpPr>
        <p:spPr>
          <a:xfrm>
            <a:off x="603504" y="1005840"/>
            <a:ext cx="10972800" cy="4709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300">
                <a:solidFill>
                  <a:srgbClr val="0284C7"/>
                </a:solidFill>
              </a:defRPr>
            </a:pPr>
            <a:r>
              <a:t>1. End-to-End 4-Stage Architectural Pipeline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 [1. Ingestion] Dual-Camera Snap / E-Commerce Image URL / Barcode Scan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──► [2. Multimodal AI Extraction] Gemini 2.5 Flash Vision isolations of PDP area, OCR text &amp; structured JSON declarations.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──► [3. Deterministic Compliance Engine] Mathematical verification of LMPC Rules 2011 (Rule 6, 7-9), USP formulas, and FSSAI rules.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──► [4. Enforcement &amp; Reporting] 100-Point Truth Score dashboard, ReportLab Statutory PDF Notices, and Interactive AI Chat.</a:t>
            </a:r>
          </a:p>
          <a:p>
            <a:pPr>
              <a:spcBef>
                <a:spcPts val="800"/>
              </a:spcBef>
              <a:defRPr b="1" sz="1300">
                <a:solidFill>
                  <a:srgbClr val="0284C7"/>
                </a:solidFill>
              </a:defRPr>
            </a:pPr>
            <a:r>
              <a:t>2. Technology Stack &amp; Frameworks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Mobile &amp; Web Frontend: Flutter (Dart) with Riverpod, CameraX, and Text-to-Speech (TTS) for high-performance cross-platform execution.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Backend API: FastAPI (Python 3.10) with asynchronous non-blocking routes (&lt;100ms response time) and Pydantic v2 data validation.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Database &amp; Cloud: PostgreSQL (Render Cloud) with SQLAlchemy ORM for encrypted inspection logs, evidence photos, and audit histories.</a:t>
            </a:r>
          </a:p>
          <a:p>
            <a:pPr>
              <a:spcBef>
                <a:spcPts val="800"/>
              </a:spcBef>
              <a:defRPr b="1" sz="1300">
                <a:solidFill>
                  <a:srgbClr val="0284C7"/>
                </a:solidFill>
              </a:defRPr>
            </a:pPr>
            <a:r>
              <a:t>3. Key Engineering Methodologies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Zero-Hallucination Separation: Multimodal AI is strictly used for text extraction; all legal evaluations are 100% computed mathematically.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Hybrid Decoupled Scanning: Operates via Dual-Camera packaging OCR or Open Food Facts live barcode registry with automatic fallback.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>
            <p:ph type="title"/>
          </p:nvPr>
        </p:nvSpPr>
        <p:spPr>
          <a:xfrm>
            <a:off x="609600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FEASIBILITY AND VIABILITY</a:t>
            </a:r>
          </a:p>
        </p:txBody>
      </p:sp>
      <p:sp>
        <p:nvSpPr>
          <p:cNvPr id="124" name="Google Shape;12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5" name="Google Shape;125;p1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49125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TextBox 127"/>
          <p:cNvSpPr txBox="1"/>
          <p:nvPr/>
        </p:nvSpPr>
        <p:spPr>
          <a:xfrm>
            <a:off x="603504" y="1005840"/>
            <a:ext cx="10972800" cy="4709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300">
                <a:solidFill>
                  <a:srgbClr val="0284C7"/>
                </a:solidFill>
              </a:defRPr>
            </a:pPr>
            <a:r>
              <a:t>1. Feasibility Analysis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Technical Feasibility: Fully functional working prototype deployed and tested (Flutter + FastAPI + PostgreSQL + Gemini 2.5 Flash). Delivers &gt;95% OCR accuracy and &lt;3s audit response on real Indian retail products.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Operational Feasibility: Zero learning curve for field officers; runs seamlessly on standard smartphones without costly dedicated hardware.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Legal &amp; Financial Viability: Strictly aligned with Legal Metrology Act, 2009 &amp; LMPC Rules, 2011. Negligible operational cost (&lt; ₹0.15/scan).</a:t>
            </a:r>
          </a:p>
          <a:p>
            <a:pPr>
              <a:spcBef>
                <a:spcPts val="800"/>
              </a:spcBef>
              <a:defRPr b="1" sz="1300">
                <a:solidFill>
                  <a:srgbClr val="0284C7"/>
                </a:solidFill>
              </a:defRPr>
            </a:pPr>
            <a:r>
              <a:t>2. Potential Challenges, Risks &amp; Mitigation Strategies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Challenge 1: Packaging Glare, Crinkling &amp; Curved Surfaces ──► Strategy: Live camera bounding boxes, auto-flash assist &amp; multi-angle sharpness guidance.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Challenge 2: Multilingual Packaging Across Indian States ──► Strategy: Gemini multimodal vision inherently parses 12+ Indian languages (Hindi, Tamil, Marathi, etc.).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Challenge 3: AI Hallucinations in Legal Notices ──► Strategy: Deterministic rule engine strictly separates perceptual text from statutory logic.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Challenge 4: Low Connectivity in Rural Markets ──► Strategy: Offline-first local SQLite cache queues inspections and auto-syncs when online.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IMPACT AND BENEFITS</a:t>
            </a:r>
          </a:p>
        </p:txBody>
      </p:sp>
      <p:sp>
        <p:nvSpPr>
          <p:cNvPr id="136" name="Google Shape;136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7" name="Google Shape;137;p17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4036" y="-7287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TextBox 139"/>
          <p:cNvSpPr txBox="1"/>
          <p:nvPr/>
        </p:nvSpPr>
        <p:spPr>
          <a:xfrm>
            <a:off x="603504" y="1005840"/>
            <a:ext cx="10972800" cy="4709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300">
                <a:solidFill>
                  <a:srgbClr val="0284C7"/>
                </a:solidFill>
              </a:defRPr>
            </a:pPr>
            <a:r>
              <a:t>1. Multi-Stakeholder Impact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Department of Consumer Affairs (DoCA) &amp; Enforcement Officers: 10x faster market surveillance, automated evidence collection, and digital court dockets.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1.4 Billion Indian Consumers: Complete price transparency (accurate MRP &amp; Unit Sale Price), elimination of deceptive packaging, and 1-click NCH reporting.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FMCG Manufacturers &amp; Retailers: Pre-market digital label verification prevents crores in packaging recall losses and regulatory penalties.</a:t>
            </a:r>
          </a:p>
          <a:p>
            <a:pPr>
              <a:spcBef>
                <a:spcPts val="800"/>
              </a:spcBef>
              <a:defRPr b="1" sz="1300">
                <a:solidFill>
                  <a:srgbClr val="0284C7"/>
                </a:solidFill>
              </a:defRPr>
            </a:pPr>
            <a:r>
              <a:t>2. Core Value Dimensions (Social, Economic, Environmental)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Governance &amp; Legal: Standardizes automated enforcement under Sections 18 &amp; 36 of Legal Metrology Act, 2009 with zero subjective human bias.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Economic &amp; Fair Trade: Eliminates dual-MRP and hidden price inflation by enforcing transparent Unit Sale Pricing (USP per g/ml).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Social &amp; Inclusivity: Text-to-Speech (TTS) voice readout empowers rural, elderly, and visually impaired citizens to verify packaging integrity.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Environmental Sustainability: Pre-market label verification prevents millions of non-compliant printed plastic/paper packages from being scrapped.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RESEARCH AND REFERENCES</a:t>
            </a:r>
          </a:p>
        </p:txBody>
      </p:sp>
      <p:sp>
        <p:nvSpPr>
          <p:cNvPr id="148" name="Google Shape;148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9" name="Google Shape;149;p18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TextBox 151"/>
          <p:cNvSpPr txBox="1"/>
          <p:nvPr/>
        </p:nvSpPr>
        <p:spPr>
          <a:xfrm>
            <a:off x="603504" y="1005840"/>
            <a:ext cx="10972800" cy="4709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300">
                <a:solidFill>
                  <a:srgbClr val="0284C7"/>
                </a:solidFill>
              </a:defRPr>
            </a:pPr>
            <a:r>
              <a:t>1. Statutory Acts, Rules &amp; Government Portals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Legal Metrology Act, 2009 (Act 1 of 2010): Sections 18 &amp; 36 (Statutory standards &amp; penal liability) ── consumeraffairs.gov.in/pages/legal-metrology-act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Legal Metrology (Packaged Commodities) Rules, 2011: Rule 6 (Mandatory Declarations &amp; USP), Rules 7-9 (PDP Font Sizing) ── consumeraffairs.gov.in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FSSAI Labelling &amp; Display Regulations 2020 &amp; Claims 2018: Sec 23 (Descending Hierarchy) &amp; HFSS Standards ── fssai.gov.in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Consumer Protection Act, 2019 &amp; CCPA Guidelines 2022: Unfair trade practices &amp; misleading advertising bans ── consumerhelpline.gov.in</a:t>
            </a:r>
          </a:p>
          <a:p>
            <a:pPr>
              <a:spcBef>
                <a:spcPts val="800"/>
              </a:spcBef>
              <a:defRPr b="1" sz="1300">
                <a:solidFill>
                  <a:srgbClr val="0284C7"/>
                </a:solidFill>
              </a:defRPr>
            </a:pPr>
            <a:r>
              <a:t>2. Technical Literature &amp; Open Data Standards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Multimodal Large Language Models for Scene Text &amp; Document Understanding (Google DeepMind / Gemini Vision Research).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Hybrid Neuro-Symbolic Compliance Verification: Eliminating LLM hallucinations via deterministic mathematical rule separation.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Open Food Facts India &amp; Global Packaging Schema (world.openfoodfacts.org) for real-time barcode product registry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